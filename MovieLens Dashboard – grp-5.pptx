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82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83" r:id="rId14"/>
    <p:sldId id="270" r:id="rId15"/>
    <p:sldId id="272" r:id="rId16"/>
    <p:sldId id="274" r:id="rId17"/>
    <p:sldId id="275" r:id="rId18"/>
    <p:sldId id="276" r:id="rId19"/>
  </p:sldIdLst>
  <p:sldSz cx="12192000" cy="6858000"/>
  <p:notesSz cx="6858000" cy="12192000"/>
  <p:embeddedFontLst>
    <p:embeddedFont>
      <p:font typeface="MiSans" panose="020B0604020202020204" charset="-122"/>
      <p:regular r:id="rId21"/>
    </p:embeddedFont>
    <p:embeddedFont>
      <p:font typeface="Noto Sans SC" panose="020B0604020202020204" charset="-128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24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25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525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pg.png"/>
          <p:cNvPicPr>
            <a:picLocks noChangeAspect="1"/>
          </p:cNvPicPr>
          <p:nvPr/>
        </p:nvPicPr>
        <p:blipFill>
          <a:blip r:embed="rId3"/>
          <a:srcRect l="3" r="3"/>
          <a:stretch/>
        </p:blipFill>
        <p:spPr>
          <a:xfrm>
            <a:off x="-41910" y="19260"/>
            <a:ext cx="12233910" cy="6859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21940" y="2225738"/>
            <a:ext cx="6506210" cy="2369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MovieLens Dashboard:</a:t>
            </a:r>
          </a:p>
          <a:p>
            <a:pPr algn="ctr">
              <a:lnSpc>
                <a:spcPct val="100000"/>
              </a:lnSpc>
            </a:pP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Système de recommandation de films</a:t>
            </a:r>
            <a:endParaRPr lang="en-US" sz="4400" b="1" dirty="0">
              <a:latin typeface="Times New Roman" panose="02020603050405020304" pitchFamily="18" charset="0"/>
              <a:ea typeface="MiSans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926958" y="4684395"/>
            <a:ext cx="2337402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89500" y="4736465"/>
            <a:ext cx="2413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26958" y="5387340"/>
            <a:ext cx="2337402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89500" y="5439410"/>
            <a:ext cx="2413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AD2B00-B463-B3E5-FEA3-FED732DBFB4F}"/>
              </a:ext>
            </a:extLst>
          </p:cNvPr>
          <p:cNvSpPr txBox="1"/>
          <p:nvPr/>
        </p:nvSpPr>
        <p:spPr>
          <a:xfrm>
            <a:off x="2956596" y="5331972"/>
            <a:ext cx="6236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 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SEDDOUKI Noura </a:t>
            </a:r>
          </a:p>
          <a:p>
            <a:pPr algn="ctr"/>
            <a:r>
              <a:rPr lang="en-GB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HADDAD Douae</a:t>
            </a:r>
            <a:endParaRPr lang="fr-F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og.png"/>
          <p:cNvPicPr>
            <a:picLocks noChangeAspect="1"/>
          </p:cNvPicPr>
          <p:nvPr/>
        </p:nvPicPr>
        <p:blipFill>
          <a:blip r:embed="rId3"/>
          <a:srcRect l="16" r="16"/>
          <a:stretch/>
        </p:blipFill>
        <p:spPr>
          <a:xfrm>
            <a:off x="0" y="-127623"/>
            <a:ext cx="12230735" cy="69259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38189" y="1791537"/>
            <a:ext cx="5239624" cy="20433"/>
          </a:xfrm>
          <a:prstGeom prst="line">
            <a:avLst/>
          </a:prstGeom>
          <a:noFill/>
          <a:ln w="12700">
            <a:solidFill>
              <a:srgbClr val="D3BDA6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5738189" y="2563443"/>
            <a:ext cx="5239624" cy="20433"/>
          </a:xfrm>
          <a:prstGeom prst="line">
            <a:avLst/>
          </a:prstGeom>
          <a:noFill/>
          <a:ln w="12700">
            <a:solidFill>
              <a:srgbClr val="D3BDA6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738189" y="3335350"/>
            <a:ext cx="5239624" cy="20433"/>
          </a:xfrm>
          <a:prstGeom prst="line">
            <a:avLst/>
          </a:prstGeom>
          <a:noFill/>
          <a:ln w="12700">
            <a:solidFill>
              <a:srgbClr val="D3BDA6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5738189" y="4107257"/>
            <a:ext cx="5239624" cy="20433"/>
          </a:xfrm>
          <a:prstGeom prst="line">
            <a:avLst/>
          </a:prstGeom>
          <a:noFill/>
          <a:ln w="12700">
            <a:solidFill>
              <a:srgbClr val="D3BDA6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738189" y="4879163"/>
            <a:ext cx="5239624" cy="20433"/>
          </a:xfrm>
          <a:prstGeom prst="line">
            <a:avLst/>
          </a:prstGeom>
          <a:noFill/>
          <a:ln w="12700">
            <a:solidFill>
              <a:srgbClr val="D3BDA6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5738189" y="5651070"/>
            <a:ext cx="5239624" cy="20433"/>
          </a:xfrm>
          <a:prstGeom prst="line">
            <a:avLst/>
          </a:prstGeom>
          <a:noFill/>
          <a:ln w="12700">
            <a:solidFill>
              <a:srgbClr val="D3BDA6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692746" y="2837734"/>
            <a:ext cx="2230120" cy="101566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</p:txBody>
      </p:sp>
      <p:sp>
        <p:nvSpPr>
          <p:cNvPr id="10" name="Text 7"/>
          <p:cNvSpPr/>
          <p:nvPr/>
        </p:nvSpPr>
        <p:spPr>
          <a:xfrm>
            <a:off x="5676900" y="1186498"/>
            <a:ext cx="690634" cy="453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3BDA6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85126" y="1236445"/>
            <a:ext cx="4367961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Introduction &amp; Objectifs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676900" y="1958405"/>
            <a:ext cx="690634" cy="453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3BDA6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85126" y="2008352"/>
            <a:ext cx="4367961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Données &amp;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676900" y="2730311"/>
            <a:ext cx="690634" cy="453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3BDA6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85126" y="2780258"/>
            <a:ext cx="4367961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Interface &amp; Simulation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676900" y="3502218"/>
            <a:ext cx="690634" cy="453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3BDA6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85126" y="3552165"/>
            <a:ext cx="4367961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Modèles &amp; Évaluation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676900" y="4274125"/>
            <a:ext cx="690634" cy="453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3BDA6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85126" y="4324072"/>
            <a:ext cx="4367961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Résultats &amp; Choix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676900" y="5046032"/>
            <a:ext cx="690634" cy="453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3BDA6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385126" y="5095978"/>
            <a:ext cx="4367961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1A1A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Conclusion &amp; Perspectives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3-d3ce46os8jdo4os5dcsg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-9525" y="-22225"/>
            <a:ext cx="12214860" cy="69100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92065" y="2949575"/>
            <a:ext cx="6986905" cy="1015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212931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Introduction &amp; Objectifs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086610"/>
            <a:ext cx="3128010" cy="862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6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8679" y="0"/>
            <a:ext cx="12590679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32810" y="807261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Introduction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4908" y="1893570"/>
            <a:ext cx="62893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870343" y="312420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b="1" dirty="0"/>
          </a:p>
        </p:txBody>
      </p:sp>
      <p:sp>
        <p:nvSpPr>
          <p:cNvPr id="10" name="Text 7"/>
          <p:cNvSpPr/>
          <p:nvPr/>
        </p:nvSpPr>
        <p:spPr>
          <a:xfrm>
            <a:off x="870343" y="350774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b="1" dirty="0"/>
          </a:p>
        </p:txBody>
      </p:sp>
      <p:sp>
        <p:nvSpPr>
          <p:cNvPr id="12" name="Text 9"/>
          <p:cNvSpPr/>
          <p:nvPr/>
        </p:nvSpPr>
        <p:spPr>
          <a:xfrm>
            <a:off x="846067" y="3890794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b="1" dirty="0"/>
          </a:p>
        </p:txBody>
      </p:sp>
      <p:sp>
        <p:nvSpPr>
          <p:cNvPr id="14" name="Text 11"/>
          <p:cNvSpPr/>
          <p:nvPr/>
        </p:nvSpPr>
        <p:spPr>
          <a:xfrm>
            <a:off x="870343" y="4271325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b="1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1AFB3F3-5194-6E08-9809-8C158B6E4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09" y="2076219"/>
            <a:ext cx="110621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Les systèmes de recommandation aident les utilisateurs à découvrir des contenus adaptés à leurs préférences sur les plateformes numériques.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Face au grand volume de films disponibles, il devient difficile de trouver rapidement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 films pertinents.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 projet propose un système de recommandation de films basé sur le dataset MovieLens.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Il compare différents modèles de recommandation et les intègre dans un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interactif sous Flask.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A701F502-05B1-B4D6-6856-808E88A59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20" y="2190695"/>
            <a:ext cx="311112" cy="31111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E15BA108-DD4D-F184-CB3E-D9603FEEF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936" y="2898335"/>
            <a:ext cx="309008" cy="30900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D28C13D-E648-A51F-AD1E-690429858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1" y="3629156"/>
            <a:ext cx="309008" cy="30900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AB7D7BB2-11F6-F0C9-6D3E-48FF4B63F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44" y="4348151"/>
            <a:ext cx="309008" cy="30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78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470" y="-18910"/>
            <a:ext cx="12396470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2700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333333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Objectifs et Intérêt du Projet</a:t>
            </a:r>
            <a:endParaRPr lang="en-U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98384" y="2136997"/>
            <a:ext cx="3695700" cy="3901493"/>
          </a:xfrm>
          <a:custGeom>
            <a:avLst/>
            <a:gdLst/>
            <a:ahLst/>
            <a:cxnLst/>
            <a:rect l="l" t="t" r="r" b="b"/>
            <a:pathLst>
              <a:path w="3695700" h="3454400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3301992"/>
                </a:lnTo>
                <a:cubicBezTo>
                  <a:pt x="3695700" y="3386165"/>
                  <a:pt x="3627465" y="3454400"/>
                  <a:pt x="3543292" y="3454400"/>
                </a:cubicBezTo>
                <a:lnTo>
                  <a:pt x="152408" y="3454400"/>
                </a:lnTo>
                <a:cubicBezTo>
                  <a:pt x="68235" y="3454400"/>
                  <a:pt x="0" y="3386165"/>
                  <a:pt x="0" y="33019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5" name="Shape 2"/>
          <p:cNvSpPr/>
          <p:nvPr/>
        </p:nvSpPr>
        <p:spPr>
          <a:xfrm>
            <a:off x="1693267" y="2438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6" name="Shape 3"/>
          <p:cNvSpPr/>
          <p:nvPr/>
        </p:nvSpPr>
        <p:spPr>
          <a:xfrm>
            <a:off x="1912342" y="2654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33375" y="190500"/>
                </a:moveTo>
                <a:cubicBezTo>
                  <a:pt x="333375" y="111645"/>
                  <a:pt x="269355" y="47625"/>
                  <a:pt x="190500" y="47625"/>
                </a:cubicBezTo>
                <a:cubicBezTo>
                  <a:pt x="111645" y="47625"/>
                  <a:pt x="47625" y="111645"/>
                  <a:pt x="47625" y="190500"/>
                </a:cubicBezTo>
                <a:cubicBezTo>
                  <a:pt x="47625" y="269355"/>
                  <a:pt x="111645" y="333375"/>
                  <a:pt x="190500" y="333375"/>
                </a:cubicBezTo>
                <a:cubicBezTo>
                  <a:pt x="269355" y="333375"/>
                  <a:pt x="333375" y="269355"/>
                  <a:pt x="333375" y="190500"/>
                </a:cubicBezTo>
                <a:close/>
                <a:moveTo>
                  <a:pt x="0" y="190500"/>
                </a:moveTo>
                <a:cubicBezTo>
                  <a:pt x="0" y="85360"/>
                  <a:pt x="85360" y="0"/>
                  <a:pt x="190500" y="0"/>
                </a:cubicBezTo>
                <a:cubicBezTo>
                  <a:pt x="295640" y="0"/>
                  <a:pt x="381000" y="85360"/>
                  <a:pt x="381000" y="190500"/>
                </a:cubicBezTo>
                <a:cubicBezTo>
                  <a:pt x="381000" y="295640"/>
                  <a:pt x="295640" y="381000"/>
                  <a:pt x="190500" y="381000"/>
                </a:cubicBezTo>
                <a:cubicBezTo>
                  <a:pt x="85360" y="381000"/>
                  <a:pt x="0" y="295640"/>
                  <a:pt x="0" y="190500"/>
                </a:cubicBezTo>
                <a:close/>
                <a:moveTo>
                  <a:pt x="190500" y="250031"/>
                </a:moveTo>
                <a:cubicBezTo>
                  <a:pt x="223356" y="250031"/>
                  <a:pt x="250031" y="223356"/>
                  <a:pt x="250031" y="190500"/>
                </a:cubicBezTo>
                <a:cubicBezTo>
                  <a:pt x="250031" y="157644"/>
                  <a:pt x="223356" y="130969"/>
                  <a:pt x="190500" y="130969"/>
                </a:cubicBezTo>
                <a:cubicBezTo>
                  <a:pt x="157644" y="130969"/>
                  <a:pt x="130969" y="157644"/>
                  <a:pt x="130969" y="190500"/>
                </a:cubicBezTo>
                <a:cubicBezTo>
                  <a:pt x="130969" y="223356"/>
                  <a:pt x="157644" y="250031"/>
                  <a:pt x="190500" y="250031"/>
                </a:cubicBezTo>
                <a:close/>
                <a:moveTo>
                  <a:pt x="190500" y="83344"/>
                </a:moveTo>
                <a:cubicBezTo>
                  <a:pt x="249641" y="83344"/>
                  <a:pt x="297656" y="131359"/>
                  <a:pt x="297656" y="190500"/>
                </a:cubicBezTo>
                <a:cubicBezTo>
                  <a:pt x="297656" y="249641"/>
                  <a:pt x="249641" y="297656"/>
                  <a:pt x="190500" y="297656"/>
                </a:cubicBezTo>
                <a:cubicBezTo>
                  <a:pt x="131359" y="297656"/>
                  <a:pt x="83344" y="249641"/>
                  <a:pt x="83344" y="190500"/>
                </a:cubicBezTo>
                <a:cubicBezTo>
                  <a:pt x="83344" y="131359"/>
                  <a:pt x="131359" y="83344"/>
                  <a:pt x="190500" y="83344"/>
                </a:cubicBezTo>
                <a:close/>
                <a:moveTo>
                  <a:pt x="166688" y="190500"/>
                </a:moveTo>
                <a:cubicBezTo>
                  <a:pt x="166688" y="177358"/>
                  <a:pt x="177358" y="166688"/>
                  <a:pt x="190500" y="166688"/>
                </a:cubicBezTo>
                <a:cubicBezTo>
                  <a:pt x="203642" y="166688"/>
                  <a:pt x="214313" y="177358"/>
                  <a:pt x="214313" y="190500"/>
                </a:cubicBezTo>
                <a:cubicBezTo>
                  <a:pt x="214313" y="203642"/>
                  <a:pt x="203642" y="214313"/>
                  <a:pt x="190500" y="214313"/>
                </a:cubicBezTo>
                <a:cubicBezTo>
                  <a:pt x="177358" y="214313"/>
                  <a:pt x="166688" y="203642"/>
                  <a:pt x="166688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97340" y="3311117"/>
            <a:ext cx="2922751" cy="27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u="sng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Objectif Principal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9984" y="3835478"/>
            <a:ext cx="3297464" cy="194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000" b="1" dirty="0"/>
              <a:t>Créer un système de recommandation de films basé sur le dataset MovieLens afin de proposer des films pertinents et d’améliorer l’expérience utilisateur</a:t>
            </a:r>
            <a:endParaRPr lang="en-US" sz="2000" b="1" dirty="0"/>
          </a:p>
        </p:txBody>
      </p:sp>
      <p:sp>
        <p:nvSpPr>
          <p:cNvPr id="9" name="Shape 6"/>
          <p:cNvSpPr/>
          <p:nvPr/>
        </p:nvSpPr>
        <p:spPr>
          <a:xfrm>
            <a:off x="4163866" y="2136996"/>
            <a:ext cx="3896164" cy="3901493"/>
          </a:xfrm>
          <a:custGeom>
            <a:avLst/>
            <a:gdLst/>
            <a:ahLst/>
            <a:cxnLst/>
            <a:rect l="l" t="t" r="r" b="b"/>
            <a:pathLst>
              <a:path w="3695700" h="3454400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3301992"/>
                </a:lnTo>
                <a:cubicBezTo>
                  <a:pt x="3695700" y="3386165"/>
                  <a:pt x="3627465" y="3454400"/>
                  <a:pt x="3543292" y="3454400"/>
                </a:cubicBezTo>
                <a:lnTo>
                  <a:pt x="152408" y="3454400"/>
                </a:lnTo>
                <a:cubicBezTo>
                  <a:pt x="68235" y="3454400"/>
                  <a:pt x="0" y="3386165"/>
                  <a:pt x="0" y="33019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10" name="Shape 7"/>
          <p:cNvSpPr/>
          <p:nvPr/>
        </p:nvSpPr>
        <p:spPr>
          <a:xfrm>
            <a:off x="5689600" y="2438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929034" y="259032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47625"/>
                </a:moveTo>
                <a:cubicBezTo>
                  <a:pt x="47625" y="34454"/>
                  <a:pt x="36984" y="23812"/>
                  <a:pt x="23812" y="23812"/>
                </a:cubicBezTo>
                <a:cubicBezTo>
                  <a:pt x="10641" y="23812"/>
                  <a:pt x="0" y="34454"/>
                  <a:pt x="0" y="47625"/>
                </a:cubicBezTo>
                <a:lnTo>
                  <a:pt x="0" y="297656"/>
                </a:lnTo>
                <a:cubicBezTo>
                  <a:pt x="0" y="330547"/>
                  <a:pt x="26640" y="357188"/>
                  <a:pt x="59531" y="357188"/>
                </a:cubicBezTo>
                <a:lnTo>
                  <a:pt x="357188" y="357188"/>
                </a:lnTo>
                <a:cubicBezTo>
                  <a:pt x="370359" y="357188"/>
                  <a:pt x="381000" y="346546"/>
                  <a:pt x="381000" y="333375"/>
                </a:cubicBezTo>
                <a:cubicBezTo>
                  <a:pt x="381000" y="320204"/>
                  <a:pt x="370359" y="309563"/>
                  <a:pt x="357188" y="309563"/>
                </a:cubicBezTo>
                <a:lnTo>
                  <a:pt x="59531" y="309563"/>
                </a:lnTo>
                <a:cubicBezTo>
                  <a:pt x="52983" y="309563"/>
                  <a:pt x="47625" y="304205"/>
                  <a:pt x="47625" y="297656"/>
                </a:cubicBezTo>
                <a:lnTo>
                  <a:pt x="47625" y="47625"/>
                </a:lnTo>
                <a:close/>
                <a:moveTo>
                  <a:pt x="350193" y="112068"/>
                </a:moveTo>
                <a:cubicBezTo>
                  <a:pt x="359494" y="102766"/>
                  <a:pt x="359494" y="87660"/>
                  <a:pt x="350193" y="78358"/>
                </a:cubicBezTo>
                <a:cubicBezTo>
                  <a:pt x="340891" y="69056"/>
                  <a:pt x="325785" y="69056"/>
                  <a:pt x="316483" y="78358"/>
                </a:cubicBezTo>
                <a:lnTo>
                  <a:pt x="238125" y="156790"/>
                </a:lnTo>
                <a:lnTo>
                  <a:pt x="195411" y="114151"/>
                </a:lnTo>
                <a:cubicBezTo>
                  <a:pt x="186110" y="104849"/>
                  <a:pt x="171004" y="104849"/>
                  <a:pt x="161702" y="114151"/>
                </a:cubicBezTo>
                <a:lnTo>
                  <a:pt x="90264" y="185589"/>
                </a:lnTo>
                <a:cubicBezTo>
                  <a:pt x="80963" y="194890"/>
                  <a:pt x="80963" y="209996"/>
                  <a:pt x="90264" y="219298"/>
                </a:cubicBezTo>
                <a:cubicBezTo>
                  <a:pt x="99566" y="228600"/>
                  <a:pt x="114672" y="228600"/>
                  <a:pt x="123974" y="219298"/>
                </a:cubicBezTo>
                <a:lnTo>
                  <a:pt x="178594" y="164678"/>
                </a:lnTo>
                <a:lnTo>
                  <a:pt x="221307" y="207392"/>
                </a:lnTo>
                <a:cubicBezTo>
                  <a:pt x="230609" y="216694"/>
                  <a:pt x="245715" y="216694"/>
                  <a:pt x="255017" y="207392"/>
                </a:cubicBezTo>
                <a:lnTo>
                  <a:pt x="350267" y="1121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125520" y="3091165"/>
            <a:ext cx="3896164" cy="68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u="sng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Recommandations &amp; Impact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00879" y="3860800"/>
            <a:ext cx="3341569" cy="1357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2000" b="1" dirty="0"/>
          </a:p>
        </p:txBody>
      </p:sp>
      <p:sp>
        <p:nvSpPr>
          <p:cNvPr id="14" name="Shape 11"/>
          <p:cNvSpPr/>
          <p:nvPr/>
        </p:nvSpPr>
        <p:spPr>
          <a:xfrm>
            <a:off x="8246666" y="2133600"/>
            <a:ext cx="3695700" cy="3901492"/>
          </a:xfrm>
          <a:custGeom>
            <a:avLst/>
            <a:gdLst/>
            <a:ahLst/>
            <a:cxnLst/>
            <a:rect l="l" t="t" r="r" b="b"/>
            <a:pathLst>
              <a:path w="3695700" h="3454400">
                <a:moveTo>
                  <a:pt x="152408" y="0"/>
                </a:moveTo>
                <a:lnTo>
                  <a:pt x="3543292" y="0"/>
                </a:lnTo>
                <a:cubicBezTo>
                  <a:pt x="3627465" y="0"/>
                  <a:pt x="3695700" y="68235"/>
                  <a:pt x="3695700" y="152408"/>
                </a:cubicBezTo>
                <a:lnTo>
                  <a:pt x="3695700" y="3301992"/>
                </a:lnTo>
                <a:cubicBezTo>
                  <a:pt x="3695700" y="3386165"/>
                  <a:pt x="3627465" y="3454400"/>
                  <a:pt x="3543292" y="3454400"/>
                </a:cubicBezTo>
                <a:lnTo>
                  <a:pt x="152408" y="3454400"/>
                </a:lnTo>
                <a:cubicBezTo>
                  <a:pt x="68235" y="3454400"/>
                  <a:pt x="0" y="3386165"/>
                  <a:pt x="0" y="33019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15" name="Shape 12"/>
          <p:cNvSpPr/>
          <p:nvPr/>
        </p:nvSpPr>
        <p:spPr>
          <a:xfrm>
            <a:off x="9709918" y="2357667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16" name="Shape 13"/>
          <p:cNvSpPr/>
          <p:nvPr/>
        </p:nvSpPr>
        <p:spPr>
          <a:xfrm>
            <a:off x="9993908" y="2568035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8748269" y="3275839"/>
            <a:ext cx="2678800" cy="296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u="sng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Intérêt du Projet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507016" y="3759199"/>
            <a:ext cx="3175000" cy="142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b="1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A9EDF58B-1234-BB96-1A78-1FC64D036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881" y="3740956"/>
            <a:ext cx="355756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Améliorer l’expérience utilisateur sur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les plateformes de streaming.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Mettre en évidence l’intérêt des outils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analytiques pour la prise de décision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115E83B3-9F2A-BC63-E305-1C9237094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1206" y="3835478"/>
            <a:ext cx="344837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Découvrir les films populaires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 par genre.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Comparer différents modèles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recommandation.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3-d3ce46os8jdo4os5dcsg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0" y="0"/>
            <a:ext cx="12214860" cy="69100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92065" y="2949575"/>
            <a:ext cx="6986905" cy="1015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212931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Données &amp;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086610"/>
            <a:ext cx="3128010" cy="862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6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470" y="-53995"/>
            <a:ext cx="12396470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36884" y="697693"/>
            <a:ext cx="5318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Dataset MovieLens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605177" y="1848485"/>
            <a:ext cx="6676846" cy="829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ea typeface="MiSans" pitchFamily="34" charset="-122"/>
                <a:cs typeface="MiSans" pitchFamily="34" charset="-120"/>
              </a:rPr>
              <a:t>Une dataset riche et </a:t>
            </a:r>
            <a:r>
              <a:rPr lang="en-US" sz="2400" b="1" dirty="0" err="1">
                <a:ea typeface="MiSans" pitchFamily="34" charset="-122"/>
                <a:cs typeface="MiSans" pitchFamily="34" charset="-120"/>
              </a:rPr>
              <a:t>éprouvé</a:t>
            </a:r>
            <a:r>
              <a:rPr lang="en-US" sz="2400" b="1" dirty="0">
                <a:ea typeface="MiSans" pitchFamily="34" charset="-122"/>
                <a:cs typeface="MiSans" pitchFamily="34" charset="-120"/>
              </a:rPr>
              <a:t> </a:t>
            </a:r>
            <a:r>
              <a:rPr lang="en-US" sz="2400" b="1" dirty="0" err="1">
                <a:ea typeface="MiSans" pitchFamily="34" charset="-122"/>
                <a:cs typeface="MiSans" pitchFamily="34" charset="-120"/>
              </a:rPr>
              <a:t>composé</a:t>
            </a:r>
            <a:r>
              <a:rPr lang="en-US" sz="2400" b="1" dirty="0">
                <a:ea typeface="MiSans" pitchFamily="34" charset="-122"/>
                <a:cs typeface="MiSans" pitchFamily="34" charset="-120"/>
              </a:rPr>
              <a:t> de deux fichiers principaux contenant plus de </a:t>
            </a:r>
            <a:r>
              <a:rPr lang="en-US" sz="2400" b="1" dirty="0">
                <a:highlight>
                  <a:srgbClr val="D7B99A">
                    <a:alpha val="100000"/>
                  </a:srgbClr>
                </a:highlight>
                <a:ea typeface="MiSans" pitchFamily="34" charset="-122"/>
                <a:cs typeface="MiSans" pitchFamily="34" charset="-120"/>
              </a:rPr>
              <a:t>9744 films </a:t>
            </a:r>
            <a:r>
              <a:rPr lang="en-US" sz="2400" b="1" dirty="0">
                <a:ea typeface="MiSans" pitchFamily="34" charset="-122"/>
                <a:cs typeface="MiSans" pitchFamily="34" charset="-120"/>
              </a:rPr>
              <a:t>et </a:t>
            </a:r>
            <a:r>
              <a:rPr lang="en-US" sz="2400" b="1" dirty="0">
                <a:highlight>
                  <a:srgbClr val="D7B99A">
                    <a:alpha val="100000"/>
                  </a:srgbClr>
                </a:highlight>
                <a:ea typeface="MiSans" pitchFamily="34" charset="-122"/>
                <a:cs typeface="MiSans" pitchFamily="34" charset="-120"/>
              </a:rPr>
              <a:t>100 837 évaluations </a:t>
            </a:r>
            <a:r>
              <a:rPr lang="en-US" sz="2400" b="1" dirty="0">
                <a:ea typeface="MiSans" pitchFamily="34" charset="-122"/>
                <a:cs typeface="MiSans" pitchFamily="34" charset="-120"/>
              </a:rPr>
              <a:t>.</a:t>
            </a:r>
            <a:endParaRPr lang="en-US" sz="2400" b="1" dirty="0"/>
          </a:p>
        </p:txBody>
      </p:sp>
      <p:sp>
        <p:nvSpPr>
          <p:cNvPr id="5" name="Shape 2"/>
          <p:cNvSpPr/>
          <p:nvPr/>
        </p:nvSpPr>
        <p:spPr>
          <a:xfrm>
            <a:off x="419100" y="3198289"/>
            <a:ext cx="4808372" cy="1408216"/>
          </a:xfrm>
          <a:custGeom>
            <a:avLst/>
            <a:gdLst/>
            <a:ahLst/>
            <a:cxnLst/>
            <a:rect l="l" t="t" r="r" b="b"/>
            <a:pathLst>
              <a:path w="4673600" h="1168400">
                <a:moveTo>
                  <a:pt x="101604" y="0"/>
                </a:moveTo>
                <a:lnTo>
                  <a:pt x="4571996" y="0"/>
                </a:lnTo>
                <a:cubicBezTo>
                  <a:pt x="4628110" y="0"/>
                  <a:pt x="4673600" y="45490"/>
                  <a:pt x="4673600" y="101604"/>
                </a:cubicBezTo>
                <a:lnTo>
                  <a:pt x="4673600" y="1066796"/>
                </a:lnTo>
                <a:cubicBezTo>
                  <a:pt x="4673600" y="1122910"/>
                  <a:pt x="4628110" y="1168400"/>
                  <a:pt x="45719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6" name="Text 3"/>
          <p:cNvSpPr/>
          <p:nvPr/>
        </p:nvSpPr>
        <p:spPr>
          <a:xfrm>
            <a:off x="514350" y="3295374"/>
            <a:ext cx="448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u="sng" dirty="0">
                <a:latin typeface="MiSans" pitchFamily="34" charset="0"/>
                <a:ea typeface="MiSans" pitchFamily="34" charset="-122"/>
                <a:cs typeface="MiSans" pitchFamily="34" charset="-120"/>
              </a:rPr>
              <a:t>Movies.csv</a:t>
            </a:r>
            <a:endParaRPr lang="en-US" u="sng" dirty="0"/>
          </a:p>
        </p:txBody>
      </p:sp>
      <p:sp>
        <p:nvSpPr>
          <p:cNvPr id="7" name="Text 4"/>
          <p:cNvSpPr/>
          <p:nvPr/>
        </p:nvSpPr>
        <p:spPr>
          <a:xfrm>
            <a:off x="514350" y="3831013"/>
            <a:ext cx="445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Contient les informations sur les films (id, titre, genre).</a:t>
            </a:r>
            <a:endParaRPr lang="en-US" sz="2000" b="1" dirty="0"/>
          </a:p>
        </p:txBody>
      </p:sp>
      <p:sp>
        <p:nvSpPr>
          <p:cNvPr id="8" name="Shape 5"/>
          <p:cNvSpPr/>
          <p:nvPr/>
        </p:nvSpPr>
        <p:spPr>
          <a:xfrm>
            <a:off x="6349042" y="3198288"/>
            <a:ext cx="4808373" cy="1408217"/>
          </a:xfrm>
          <a:custGeom>
            <a:avLst/>
            <a:gdLst/>
            <a:ahLst/>
            <a:cxnLst/>
            <a:rect l="l" t="t" r="r" b="b"/>
            <a:pathLst>
              <a:path w="4673600" h="914400">
                <a:moveTo>
                  <a:pt x="101599" y="0"/>
                </a:moveTo>
                <a:lnTo>
                  <a:pt x="4572001" y="0"/>
                </a:lnTo>
                <a:cubicBezTo>
                  <a:pt x="4628113" y="0"/>
                  <a:pt x="4673600" y="45487"/>
                  <a:pt x="4673600" y="101599"/>
                </a:cubicBezTo>
                <a:lnTo>
                  <a:pt x="4673600" y="812801"/>
                </a:lnTo>
                <a:cubicBezTo>
                  <a:pt x="4673600" y="868913"/>
                  <a:pt x="4628113" y="914400"/>
                  <a:pt x="4572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9" name="Text 6"/>
          <p:cNvSpPr/>
          <p:nvPr/>
        </p:nvSpPr>
        <p:spPr>
          <a:xfrm>
            <a:off x="6552953" y="3251200"/>
            <a:ext cx="448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u="sng" dirty="0">
                <a:latin typeface="MiSans" pitchFamily="34" charset="0"/>
                <a:ea typeface="MiSans" pitchFamily="34" charset="-122"/>
                <a:cs typeface="MiSans" pitchFamily="34" charset="-120"/>
              </a:rPr>
              <a:t>Ratings.csv</a:t>
            </a:r>
            <a:endParaRPr lang="en-US" u="sng" dirty="0"/>
          </a:p>
        </p:txBody>
      </p:sp>
      <p:sp>
        <p:nvSpPr>
          <p:cNvPr id="10" name="Text 7"/>
          <p:cNvSpPr/>
          <p:nvPr/>
        </p:nvSpPr>
        <p:spPr>
          <a:xfrm>
            <a:off x="6470403" y="3735293"/>
            <a:ext cx="4565650" cy="603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Contient les notes attribuées par les utilisateurs (id d’utilisateur et movie ,rating,timetamp).</a:t>
            </a:r>
            <a:endParaRPr 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0335" y="-158750"/>
            <a:ext cx="12396470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633" y="676275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Backend et Outils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65271" y="1482066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5" name="Shape 2"/>
          <p:cNvSpPr/>
          <p:nvPr/>
        </p:nvSpPr>
        <p:spPr>
          <a:xfrm>
            <a:off x="620712" y="178308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27273" y="149200"/>
                </a:moveTo>
                <a:cubicBezTo>
                  <a:pt x="321543" y="126206"/>
                  <a:pt x="310679" y="108868"/>
                  <a:pt x="287536" y="108868"/>
                </a:cubicBezTo>
                <a:lnTo>
                  <a:pt x="257696" y="108868"/>
                </a:lnTo>
                <a:lnTo>
                  <a:pt x="257696" y="144140"/>
                </a:lnTo>
                <a:cubicBezTo>
                  <a:pt x="257696" y="171524"/>
                  <a:pt x="234479" y="194593"/>
                  <a:pt x="207987" y="194593"/>
                </a:cubicBezTo>
                <a:lnTo>
                  <a:pt x="128513" y="194593"/>
                </a:lnTo>
                <a:cubicBezTo>
                  <a:pt x="106784" y="194593"/>
                  <a:pt x="88776" y="213196"/>
                  <a:pt x="88776" y="235000"/>
                </a:cubicBezTo>
                <a:lnTo>
                  <a:pt x="88776" y="310753"/>
                </a:lnTo>
                <a:cubicBezTo>
                  <a:pt x="88776" y="332333"/>
                  <a:pt x="107528" y="344984"/>
                  <a:pt x="128513" y="351160"/>
                </a:cubicBezTo>
                <a:cubicBezTo>
                  <a:pt x="153665" y="358527"/>
                  <a:pt x="177850" y="359866"/>
                  <a:pt x="207987" y="351160"/>
                </a:cubicBezTo>
                <a:cubicBezTo>
                  <a:pt x="228005" y="345356"/>
                  <a:pt x="247724" y="333673"/>
                  <a:pt x="247724" y="310753"/>
                </a:cubicBezTo>
                <a:lnTo>
                  <a:pt x="247724" y="280467"/>
                </a:lnTo>
                <a:lnTo>
                  <a:pt x="168325" y="280467"/>
                </a:lnTo>
                <a:lnTo>
                  <a:pt x="168325" y="270346"/>
                </a:lnTo>
                <a:lnTo>
                  <a:pt x="287536" y="270346"/>
                </a:lnTo>
                <a:cubicBezTo>
                  <a:pt x="310679" y="270346"/>
                  <a:pt x="319236" y="254198"/>
                  <a:pt x="327273" y="230014"/>
                </a:cubicBezTo>
                <a:cubicBezTo>
                  <a:pt x="335607" y="205085"/>
                  <a:pt x="335235" y="181124"/>
                  <a:pt x="327273" y="149200"/>
                </a:cubicBezTo>
                <a:close/>
                <a:moveTo>
                  <a:pt x="212973" y="330919"/>
                </a:moveTo>
                <a:cubicBezTo>
                  <a:pt x="207310" y="331317"/>
                  <a:pt x="201898" y="328520"/>
                  <a:pt x="198945" y="323671"/>
                </a:cubicBezTo>
                <a:cubicBezTo>
                  <a:pt x="195992" y="318822"/>
                  <a:pt x="195992" y="312730"/>
                  <a:pt x="198945" y="307881"/>
                </a:cubicBezTo>
                <a:cubicBezTo>
                  <a:pt x="201898" y="303032"/>
                  <a:pt x="207310" y="300236"/>
                  <a:pt x="212973" y="300633"/>
                </a:cubicBezTo>
                <a:cubicBezTo>
                  <a:pt x="218637" y="300236"/>
                  <a:pt x="224048" y="303032"/>
                  <a:pt x="227001" y="307881"/>
                </a:cubicBezTo>
                <a:cubicBezTo>
                  <a:pt x="229954" y="312730"/>
                  <a:pt x="229954" y="318822"/>
                  <a:pt x="227001" y="323671"/>
                </a:cubicBezTo>
                <a:cubicBezTo>
                  <a:pt x="224048" y="328520"/>
                  <a:pt x="218637" y="331317"/>
                  <a:pt x="212973" y="330919"/>
                </a:cubicBezTo>
                <a:close/>
                <a:moveTo>
                  <a:pt x="124867" y="184621"/>
                </a:moveTo>
                <a:lnTo>
                  <a:pt x="204341" y="184621"/>
                </a:lnTo>
                <a:cubicBezTo>
                  <a:pt x="226442" y="184621"/>
                  <a:pt x="244078" y="166390"/>
                  <a:pt x="244078" y="144214"/>
                </a:cubicBezTo>
                <a:lnTo>
                  <a:pt x="244078" y="68387"/>
                </a:lnTo>
                <a:cubicBezTo>
                  <a:pt x="244078" y="46806"/>
                  <a:pt x="225921" y="30659"/>
                  <a:pt x="204341" y="27012"/>
                </a:cubicBezTo>
                <a:cubicBezTo>
                  <a:pt x="177701" y="22622"/>
                  <a:pt x="148754" y="22845"/>
                  <a:pt x="124867" y="27087"/>
                </a:cubicBezTo>
                <a:cubicBezTo>
                  <a:pt x="91232" y="33040"/>
                  <a:pt x="85130" y="45467"/>
                  <a:pt x="85130" y="68461"/>
                </a:cubicBezTo>
                <a:lnTo>
                  <a:pt x="85130" y="98747"/>
                </a:lnTo>
                <a:lnTo>
                  <a:pt x="164678" y="98747"/>
                </a:lnTo>
                <a:lnTo>
                  <a:pt x="164678" y="108868"/>
                </a:lnTo>
                <a:lnTo>
                  <a:pt x="55290" y="108868"/>
                </a:lnTo>
                <a:cubicBezTo>
                  <a:pt x="32147" y="108868"/>
                  <a:pt x="11906" y="122783"/>
                  <a:pt x="5581" y="149200"/>
                </a:cubicBezTo>
                <a:cubicBezTo>
                  <a:pt x="-1712" y="179487"/>
                  <a:pt x="-2009" y="198388"/>
                  <a:pt x="5581" y="230014"/>
                </a:cubicBezTo>
                <a:cubicBezTo>
                  <a:pt x="11237" y="253529"/>
                  <a:pt x="24705" y="270346"/>
                  <a:pt x="47848" y="270346"/>
                </a:cubicBezTo>
                <a:lnTo>
                  <a:pt x="75158" y="270346"/>
                </a:lnTo>
                <a:lnTo>
                  <a:pt x="75158" y="234032"/>
                </a:lnTo>
                <a:cubicBezTo>
                  <a:pt x="75158" y="207764"/>
                  <a:pt x="97854" y="184621"/>
                  <a:pt x="124867" y="184621"/>
                </a:cubicBezTo>
                <a:close/>
                <a:moveTo>
                  <a:pt x="119955" y="48146"/>
                </a:moveTo>
                <a:cubicBezTo>
                  <a:pt x="128334" y="48146"/>
                  <a:pt x="135136" y="54948"/>
                  <a:pt x="135136" y="63326"/>
                </a:cubicBezTo>
                <a:cubicBezTo>
                  <a:pt x="135136" y="71705"/>
                  <a:pt x="128334" y="78507"/>
                  <a:pt x="119955" y="78507"/>
                </a:cubicBezTo>
                <a:cubicBezTo>
                  <a:pt x="111577" y="78507"/>
                  <a:pt x="104775" y="71705"/>
                  <a:pt x="104775" y="63326"/>
                </a:cubicBezTo>
                <a:cubicBezTo>
                  <a:pt x="104775" y="54948"/>
                  <a:pt x="111577" y="48146"/>
                  <a:pt x="119955" y="48146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6" name="Text 3"/>
          <p:cNvSpPr/>
          <p:nvPr/>
        </p:nvSpPr>
        <p:spPr>
          <a:xfrm>
            <a:off x="1237616" y="1600200"/>
            <a:ext cx="308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Pandas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269999" y="2062480"/>
            <a:ext cx="40783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Manipulation et analyse des données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97600" y="1483995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9" name="Shape 6"/>
          <p:cNvSpPr/>
          <p:nvPr/>
        </p:nvSpPr>
        <p:spPr>
          <a:xfrm>
            <a:off x="6543992" y="17526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47625" y="0"/>
                </a:moveTo>
                <a:cubicBezTo>
                  <a:pt x="21357" y="0"/>
                  <a:pt x="0" y="21357"/>
                  <a:pt x="0" y="47625"/>
                </a:cubicBezTo>
                <a:lnTo>
                  <a:pt x="0" y="333375"/>
                </a:lnTo>
                <a:cubicBezTo>
                  <a:pt x="0" y="359643"/>
                  <a:pt x="21357" y="381000"/>
                  <a:pt x="47625" y="381000"/>
                </a:cubicBezTo>
                <a:lnTo>
                  <a:pt x="238125" y="381000"/>
                </a:lnTo>
                <a:cubicBezTo>
                  <a:pt x="264393" y="381000"/>
                  <a:pt x="285750" y="359643"/>
                  <a:pt x="285750" y="333375"/>
                </a:cubicBezTo>
                <a:lnTo>
                  <a:pt x="285750" y="47625"/>
                </a:lnTo>
                <a:cubicBezTo>
                  <a:pt x="285750" y="21357"/>
                  <a:pt x="264393" y="0"/>
                  <a:pt x="238125" y="0"/>
                </a:cubicBezTo>
                <a:lnTo>
                  <a:pt x="47625" y="0"/>
                </a:lnTo>
                <a:close/>
                <a:moveTo>
                  <a:pt x="71438" y="47625"/>
                </a:moveTo>
                <a:lnTo>
                  <a:pt x="214313" y="47625"/>
                </a:lnTo>
                <a:cubicBezTo>
                  <a:pt x="227484" y="47625"/>
                  <a:pt x="238125" y="58266"/>
                  <a:pt x="238125" y="71438"/>
                </a:cubicBezTo>
                <a:lnTo>
                  <a:pt x="238125" y="95250"/>
                </a:lnTo>
                <a:cubicBezTo>
                  <a:pt x="238125" y="108421"/>
                  <a:pt x="227484" y="119063"/>
                  <a:pt x="214313" y="119063"/>
                </a:cubicBezTo>
                <a:lnTo>
                  <a:pt x="71438" y="119063"/>
                </a:lnTo>
                <a:cubicBezTo>
                  <a:pt x="58266" y="119063"/>
                  <a:pt x="47625" y="108421"/>
                  <a:pt x="47625" y="95250"/>
                </a:cubicBezTo>
                <a:lnTo>
                  <a:pt x="47625" y="71438"/>
                </a:lnTo>
                <a:cubicBezTo>
                  <a:pt x="47625" y="58266"/>
                  <a:pt x="58266" y="47625"/>
                  <a:pt x="71438" y="47625"/>
                </a:cubicBezTo>
                <a:close/>
                <a:moveTo>
                  <a:pt x="83344" y="172641"/>
                </a:moveTo>
                <a:cubicBezTo>
                  <a:pt x="83344" y="182497"/>
                  <a:pt x="75341" y="190500"/>
                  <a:pt x="65484" y="190500"/>
                </a:cubicBezTo>
                <a:cubicBezTo>
                  <a:pt x="55628" y="190500"/>
                  <a:pt x="47625" y="182497"/>
                  <a:pt x="47625" y="172641"/>
                </a:cubicBezTo>
                <a:cubicBezTo>
                  <a:pt x="47625" y="162784"/>
                  <a:pt x="55628" y="154781"/>
                  <a:pt x="65484" y="154781"/>
                </a:cubicBezTo>
                <a:cubicBezTo>
                  <a:pt x="75341" y="154781"/>
                  <a:pt x="83344" y="162784"/>
                  <a:pt x="83344" y="172641"/>
                </a:cubicBezTo>
                <a:close/>
                <a:moveTo>
                  <a:pt x="142875" y="190500"/>
                </a:moveTo>
                <a:cubicBezTo>
                  <a:pt x="133018" y="190500"/>
                  <a:pt x="125016" y="182497"/>
                  <a:pt x="125016" y="172641"/>
                </a:cubicBezTo>
                <a:cubicBezTo>
                  <a:pt x="125016" y="162784"/>
                  <a:pt x="133018" y="154781"/>
                  <a:pt x="142875" y="154781"/>
                </a:cubicBezTo>
                <a:cubicBezTo>
                  <a:pt x="152732" y="154781"/>
                  <a:pt x="160734" y="162784"/>
                  <a:pt x="160734" y="172641"/>
                </a:cubicBezTo>
                <a:cubicBezTo>
                  <a:pt x="160734" y="182497"/>
                  <a:pt x="152732" y="190500"/>
                  <a:pt x="142875" y="190500"/>
                </a:cubicBezTo>
                <a:close/>
                <a:moveTo>
                  <a:pt x="238125" y="172641"/>
                </a:moveTo>
                <a:cubicBezTo>
                  <a:pt x="238125" y="182497"/>
                  <a:pt x="230122" y="190500"/>
                  <a:pt x="220266" y="190500"/>
                </a:cubicBezTo>
                <a:cubicBezTo>
                  <a:pt x="210409" y="190500"/>
                  <a:pt x="202406" y="182497"/>
                  <a:pt x="202406" y="172641"/>
                </a:cubicBezTo>
                <a:cubicBezTo>
                  <a:pt x="202406" y="162784"/>
                  <a:pt x="210409" y="154781"/>
                  <a:pt x="220266" y="154781"/>
                </a:cubicBezTo>
                <a:cubicBezTo>
                  <a:pt x="230122" y="154781"/>
                  <a:pt x="238125" y="162784"/>
                  <a:pt x="238125" y="172641"/>
                </a:cubicBezTo>
                <a:close/>
                <a:moveTo>
                  <a:pt x="65484" y="261938"/>
                </a:moveTo>
                <a:cubicBezTo>
                  <a:pt x="55628" y="261938"/>
                  <a:pt x="47625" y="253935"/>
                  <a:pt x="47625" y="244078"/>
                </a:cubicBezTo>
                <a:cubicBezTo>
                  <a:pt x="47625" y="234221"/>
                  <a:pt x="55628" y="226219"/>
                  <a:pt x="65484" y="226219"/>
                </a:cubicBezTo>
                <a:cubicBezTo>
                  <a:pt x="75341" y="226219"/>
                  <a:pt x="83344" y="234221"/>
                  <a:pt x="83344" y="244078"/>
                </a:cubicBezTo>
                <a:cubicBezTo>
                  <a:pt x="83344" y="253935"/>
                  <a:pt x="75341" y="261938"/>
                  <a:pt x="65484" y="261938"/>
                </a:cubicBezTo>
                <a:close/>
                <a:moveTo>
                  <a:pt x="160734" y="244078"/>
                </a:moveTo>
                <a:cubicBezTo>
                  <a:pt x="160734" y="253935"/>
                  <a:pt x="152732" y="261938"/>
                  <a:pt x="142875" y="261938"/>
                </a:cubicBezTo>
                <a:cubicBezTo>
                  <a:pt x="133018" y="261938"/>
                  <a:pt x="125016" y="253935"/>
                  <a:pt x="125016" y="244078"/>
                </a:cubicBezTo>
                <a:cubicBezTo>
                  <a:pt x="125016" y="234221"/>
                  <a:pt x="133018" y="226219"/>
                  <a:pt x="142875" y="226219"/>
                </a:cubicBezTo>
                <a:cubicBezTo>
                  <a:pt x="152732" y="226219"/>
                  <a:pt x="160734" y="234221"/>
                  <a:pt x="160734" y="244078"/>
                </a:cubicBezTo>
                <a:close/>
                <a:moveTo>
                  <a:pt x="220266" y="261938"/>
                </a:moveTo>
                <a:cubicBezTo>
                  <a:pt x="210409" y="261938"/>
                  <a:pt x="202406" y="253935"/>
                  <a:pt x="202406" y="244078"/>
                </a:cubicBezTo>
                <a:cubicBezTo>
                  <a:pt x="202406" y="234221"/>
                  <a:pt x="210409" y="226219"/>
                  <a:pt x="220266" y="226219"/>
                </a:cubicBezTo>
                <a:cubicBezTo>
                  <a:pt x="230122" y="226219"/>
                  <a:pt x="238125" y="234221"/>
                  <a:pt x="238125" y="244078"/>
                </a:cubicBezTo>
                <a:cubicBezTo>
                  <a:pt x="238125" y="253935"/>
                  <a:pt x="230122" y="261938"/>
                  <a:pt x="220266" y="261938"/>
                </a:cubicBezTo>
                <a:close/>
                <a:moveTo>
                  <a:pt x="47625" y="315516"/>
                </a:moveTo>
                <a:cubicBezTo>
                  <a:pt x="47625" y="305619"/>
                  <a:pt x="55587" y="297656"/>
                  <a:pt x="65484" y="297656"/>
                </a:cubicBezTo>
                <a:lnTo>
                  <a:pt x="148828" y="297656"/>
                </a:lnTo>
                <a:cubicBezTo>
                  <a:pt x="158725" y="297656"/>
                  <a:pt x="166688" y="305619"/>
                  <a:pt x="166688" y="315516"/>
                </a:cubicBezTo>
                <a:cubicBezTo>
                  <a:pt x="166688" y="325413"/>
                  <a:pt x="158725" y="333375"/>
                  <a:pt x="148828" y="333375"/>
                </a:cubicBezTo>
                <a:lnTo>
                  <a:pt x="65484" y="333375"/>
                </a:lnTo>
                <a:cubicBezTo>
                  <a:pt x="55587" y="333375"/>
                  <a:pt x="47625" y="325413"/>
                  <a:pt x="47625" y="315516"/>
                </a:cubicBezTo>
                <a:close/>
                <a:moveTo>
                  <a:pt x="220266" y="297656"/>
                </a:moveTo>
                <a:cubicBezTo>
                  <a:pt x="230163" y="297656"/>
                  <a:pt x="238125" y="305619"/>
                  <a:pt x="238125" y="315516"/>
                </a:cubicBezTo>
                <a:cubicBezTo>
                  <a:pt x="238125" y="325413"/>
                  <a:pt x="230163" y="333375"/>
                  <a:pt x="220266" y="333375"/>
                </a:cubicBezTo>
                <a:cubicBezTo>
                  <a:pt x="210369" y="333375"/>
                  <a:pt x="202406" y="325413"/>
                  <a:pt x="202406" y="315516"/>
                </a:cubicBezTo>
                <a:cubicBezTo>
                  <a:pt x="202406" y="305619"/>
                  <a:pt x="210369" y="297656"/>
                  <a:pt x="220266" y="297656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10" name="Text 7"/>
          <p:cNvSpPr/>
          <p:nvPr/>
        </p:nvSpPr>
        <p:spPr>
          <a:xfrm>
            <a:off x="7213600" y="1643380"/>
            <a:ext cx="234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NumPy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239952" y="2038984"/>
            <a:ext cx="2967038" cy="30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Calculs numériques rapides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4000" y="2884805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13" name="Shape 10"/>
          <p:cNvSpPr/>
          <p:nvPr/>
        </p:nvSpPr>
        <p:spPr>
          <a:xfrm>
            <a:off x="596900" y="3162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14" name="Text 11"/>
          <p:cNvSpPr/>
          <p:nvPr/>
        </p:nvSpPr>
        <p:spPr>
          <a:xfrm>
            <a:off x="1270000" y="3009900"/>
            <a:ext cx="250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scikit-learn</a:t>
            </a:r>
            <a:endParaRPr lang="en-US" sz="2400" b="1" dirty="0"/>
          </a:p>
        </p:txBody>
      </p:sp>
      <p:sp>
        <p:nvSpPr>
          <p:cNvPr id="15" name="Text 12"/>
          <p:cNvSpPr/>
          <p:nvPr/>
        </p:nvSpPr>
        <p:spPr>
          <a:xfrm>
            <a:off x="1270000" y="3376930"/>
            <a:ext cx="331343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Calcul des similarités (cosine).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197600" y="2895600"/>
            <a:ext cx="5740400" cy="1016000"/>
          </a:xfrm>
          <a:custGeom>
            <a:avLst/>
            <a:gdLst/>
            <a:ahLst/>
            <a:cxnLst/>
            <a:rect l="l" t="t" r="r" b="b"/>
            <a:pathLst>
              <a:path w="5740400" h="1016000">
                <a:moveTo>
                  <a:pt x="101600" y="0"/>
                </a:moveTo>
                <a:lnTo>
                  <a:pt x="5638800" y="0"/>
                </a:lnTo>
                <a:cubicBezTo>
                  <a:pt x="5694875" y="0"/>
                  <a:pt x="5740400" y="45525"/>
                  <a:pt x="5740400" y="101600"/>
                </a:cubicBezTo>
                <a:lnTo>
                  <a:pt x="5740400" y="914400"/>
                </a:lnTo>
                <a:cubicBezTo>
                  <a:pt x="5740400" y="970475"/>
                  <a:pt x="5694875" y="1016000"/>
                  <a:pt x="56388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900" y="31623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119063"/>
                </a:lnTo>
                <a:cubicBezTo>
                  <a:pt x="0" y="145331"/>
                  <a:pt x="21357" y="166688"/>
                  <a:pt x="47625" y="166688"/>
                </a:cubicBezTo>
                <a:lnTo>
                  <a:pt x="285750" y="166688"/>
                </a:lnTo>
                <a:cubicBezTo>
                  <a:pt x="312018" y="166688"/>
                  <a:pt x="333375" y="145331"/>
                  <a:pt x="333375" y="119063"/>
                </a:cubicBezTo>
                <a:lnTo>
                  <a:pt x="333375" y="71438"/>
                </a:lnTo>
                <a:cubicBezTo>
                  <a:pt x="333375" y="45169"/>
                  <a:pt x="312018" y="23812"/>
                  <a:pt x="285750" y="23812"/>
                </a:cubicBezTo>
                <a:lnTo>
                  <a:pt x="47625" y="23812"/>
                </a:lnTo>
                <a:close/>
                <a:moveTo>
                  <a:pt x="208359" y="77391"/>
                </a:moveTo>
                <a:cubicBezTo>
                  <a:pt x="218216" y="77391"/>
                  <a:pt x="226219" y="85393"/>
                  <a:pt x="226219" y="95250"/>
                </a:cubicBezTo>
                <a:cubicBezTo>
                  <a:pt x="226219" y="105107"/>
                  <a:pt x="218216" y="113109"/>
                  <a:pt x="208359" y="113109"/>
                </a:cubicBezTo>
                <a:cubicBezTo>
                  <a:pt x="198503" y="113109"/>
                  <a:pt x="190500" y="105107"/>
                  <a:pt x="190500" y="95250"/>
                </a:cubicBezTo>
                <a:cubicBezTo>
                  <a:pt x="190500" y="85393"/>
                  <a:pt x="198503" y="77391"/>
                  <a:pt x="208359" y="77391"/>
                </a:cubicBezTo>
                <a:close/>
                <a:moveTo>
                  <a:pt x="250031" y="95250"/>
                </a:moveTo>
                <a:cubicBezTo>
                  <a:pt x="250031" y="85393"/>
                  <a:pt x="258034" y="77391"/>
                  <a:pt x="267891" y="77391"/>
                </a:cubicBezTo>
                <a:cubicBezTo>
                  <a:pt x="277747" y="77391"/>
                  <a:pt x="285750" y="85393"/>
                  <a:pt x="285750" y="95250"/>
                </a:cubicBezTo>
                <a:cubicBezTo>
                  <a:pt x="285750" y="105107"/>
                  <a:pt x="277747" y="113109"/>
                  <a:pt x="267891" y="113109"/>
                </a:cubicBezTo>
                <a:cubicBezTo>
                  <a:pt x="258034" y="113109"/>
                  <a:pt x="250031" y="105107"/>
                  <a:pt x="250031" y="95250"/>
                </a:cubicBezTo>
                <a:close/>
                <a:moveTo>
                  <a:pt x="47625" y="214313"/>
                </a:moveTo>
                <a:cubicBezTo>
                  <a:pt x="21357" y="214313"/>
                  <a:pt x="0" y="235669"/>
                  <a:pt x="0" y="261938"/>
                </a:cubicBez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285750" y="357188"/>
                </a:lnTo>
                <a:cubicBezTo>
                  <a:pt x="312018" y="357188"/>
                  <a:pt x="333375" y="335831"/>
                  <a:pt x="333375" y="309563"/>
                </a:cubicBezTo>
                <a:lnTo>
                  <a:pt x="333375" y="261938"/>
                </a:lnTo>
                <a:cubicBezTo>
                  <a:pt x="333375" y="235669"/>
                  <a:pt x="312018" y="214313"/>
                  <a:pt x="285750" y="214313"/>
                </a:cubicBezTo>
                <a:lnTo>
                  <a:pt x="47625" y="214313"/>
                </a:lnTo>
                <a:close/>
                <a:moveTo>
                  <a:pt x="208359" y="267891"/>
                </a:moveTo>
                <a:cubicBezTo>
                  <a:pt x="218216" y="267891"/>
                  <a:pt x="226219" y="275893"/>
                  <a:pt x="226219" y="285750"/>
                </a:cubicBezTo>
                <a:cubicBezTo>
                  <a:pt x="226219" y="295607"/>
                  <a:pt x="218216" y="303609"/>
                  <a:pt x="208359" y="303609"/>
                </a:cubicBezTo>
                <a:cubicBezTo>
                  <a:pt x="198503" y="303609"/>
                  <a:pt x="190500" y="295607"/>
                  <a:pt x="190500" y="285750"/>
                </a:cubicBezTo>
                <a:cubicBezTo>
                  <a:pt x="190500" y="275893"/>
                  <a:pt x="198503" y="267891"/>
                  <a:pt x="208359" y="267891"/>
                </a:cubicBezTo>
                <a:close/>
                <a:moveTo>
                  <a:pt x="250031" y="285750"/>
                </a:moveTo>
                <a:cubicBezTo>
                  <a:pt x="250031" y="275893"/>
                  <a:pt x="258034" y="267891"/>
                  <a:pt x="267891" y="267891"/>
                </a:cubicBezTo>
                <a:cubicBezTo>
                  <a:pt x="277747" y="267891"/>
                  <a:pt x="285750" y="275893"/>
                  <a:pt x="285750" y="285750"/>
                </a:cubicBezTo>
                <a:cubicBezTo>
                  <a:pt x="285750" y="295607"/>
                  <a:pt x="277747" y="303609"/>
                  <a:pt x="267891" y="303609"/>
                </a:cubicBezTo>
                <a:cubicBezTo>
                  <a:pt x="258034" y="303609"/>
                  <a:pt x="250031" y="295607"/>
                  <a:pt x="250031" y="285750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18" name="Text 15"/>
          <p:cNvSpPr/>
          <p:nvPr/>
        </p:nvSpPr>
        <p:spPr>
          <a:xfrm>
            <a:off x="7172643" y="3009265"/>
            <a:ext cx="265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Flask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72642" y="3365500"/>
            <a:ext cx="41452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latin typeface="MiSans" pitchFamily="34" charset="0"/>
                <a:ea typeface="MiSans" pitchFamily="34" charset="-122"/>
                <a:cs typeface="MiSans" pitchFamily="34" charset="-120"/>
              </a:rPr>
              <a:t>Serveur web et affichage HTML</a:t>
            </a:r>
            <a:r>
              <a:rPr lang="en-US" sz="16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254000" y="4596130"/>
            <a:ext cx="11684000" cy="10668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965198"/>
                </a:lnTo>
                <a:cubicBezTo>
                  <a:pt x="11684000" y="1021311"/>
                  <a:pt x="11638511" y="1066800"/>
                  <a:pt x="11582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21" name="Text 18"/>
          <p:cNvSpPr/>
          <p:nvPr/>
        </p:nvSpPr>
        <p:spPr>
          <a:xfrm>
            <a:off x="120333" y="4723130"/>
            <a:ext cx="1137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u="sng" dirty="0">
                <a:ea typeface="MiSans" pitchFamily="34" charset="-122"/>
                <a:cs typeface="MiSans" pitchFamily="34" charset="-120"/>
              </a:rPr>
              <a:t>Fonctionnement Général</a:t>
            </a:r>
            <a:endParaRPr lang="en-US" sz="2400" u="sng" dirty="0"/>
          </a:p>
        </p:txBody>
      </p:sp>
      <p:sp>
        <p:nvSpPr>
          <p:cNvPr id="22" name="Text 19"/>
          <p:cNvSpPr/>
          <p:nvPr/>
        </p:nvSpPr>
        <p:spPr>
          <a:xfrm>
            <a:off x="571500" y="5205730"/>
            <a:ext cx="1136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ea typeface="MiSans" pitchFamily="34" charset="-122"/>
                <a:cs typeface="MiSans" pitchFamily="34" charset="-120"/>
              </a:rPr>
              <a:t>Charger → Nettoyer → Créer Matrice → Calculer Similarités → Générer Recommandations</a:t>
            </a:r>
            <a:endParaRPr 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3-d3ce46os8jdo4os5dcsg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-9525" y="-22225"/>
            <a:ext cx="12214860" cy="69100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92065" y="2949575"/>
            <a:ext cx="6986905" cy="1015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212931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Interface &amp; Simulation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086610"/>
            <a:ext cx="3128010" cy="862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6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3987" y="-43815"/>
            <a:ext cx="12590679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2150" y="69977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Simulation et Dashboard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9600" y="1845625"/>
            <a:ext cx="8534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fr-FR" sz="2000" b="1" dirty="0">
                <a:ea typeface="MiSans" pitchFamily="34" charset="-122"/>
                <a:cs typeface="MiSans" pitchFamily="34" charset="-120"/>
              </a:rPr>
              <a:t>Interface web intuitive développée avec Flask, HTML et CSS pour une navigation simple afin de </a:t>
            </a:r>
            <a:r>
              <a:rPr lang="en-US" sz="2000" b="1" dirty="0">
                <a:ea typeface="MiSans" pitchFamily="34" charset="-122"/>
                <a:cs typeface="MiSans" pitchFamily="34" charset="-120"/>
              </a:rPr>
              <a:t> tester les recommandations en temps réel.</a:t>
            </a:r>
            <a:endParaRPr lang="en-US" sz="2000" b="1" dirty="0"/>
          </a:p>
        </p:txBody>
      </p:sp>
      <p:sp>
        <p:nvSpPr>
          <p:cNvPr id="5" name="Shape 2"/>
          <p:cNvSpPr/>
          <p:nvPr/>
        </p:nvSpPr>
        <p:spPr>
          <a:xfrm>
            <a:off x="609600" y="2769161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6" name="Text 3"/>
          <p:cNvSpPr/>
          <p:nvPr/>
        </p:nvSpPr>
        <p:spPr>
          <a:xfrm>
            <a:off x="915035" y="270637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Top films</a:t>
            </a:r>
            <a:endParaRPr lang="en-US" b="1" dirty="0"/>
          </a:p>
        </p:txBody>
      </p:sp>
      <p:sp>
        <p:nvSpPr>
          <p:cNvPr id="7" name="Shape 4"/>
          <p:cNvSpPr/>
          <p:nvPr/>
        </p:nvSpPr>
        <p:spPr>
          <a:xfrm>
            <a:off x="609600" y="3225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8" name="Text 5"/>
          <p:cNvSpPr/>
          <p:nvPr/>
        </p:nvSpPr>
        <p:spPr>
          <a:xfrm>
            <a:off x="915035" y="312420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Analyse par genre</a:t>
            </a:r>
            <a:endParaRPr lang="en-US" b="1" dirty="0"/>
          </a:p>
        </p:txBody>
      </p:sp>
      <p:sp>
        <p:nvSpPr>
          <p:cNvPr id="9" name="Shape 6"/>
          <p:cNvSpPr/>
          <p:nvPr/>
        </p:nvSpPr>
        <p:spPr>
          <a:xfrm>
            <a:off x="609600" y="3587684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10" name="Text 7"/>
          <p:cNvSpPr/>
          <p:nvPr/>
        </p:nvSpPr>
        <p:spPr>
          <a:xfrm>
            <a:off x="915035" y="350774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Système de recommandations</a:t>
            </a:r>
            <a:endParaRPr lang="en-US" b="1" dirty="0"/>
          </a:p>
        </p:txBody>
      </p:sp>
      <p:sp>
        <p:nvSpPr>
          <p:cNvPr id="11" name="Shape 8"/>
          <p:cNvSpPr/>
          <p:nvPr/>
        </p:nvSpPr>
        <p:spPr>
          <a:xfrm>
            <a:off x="609600" y="3999002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12" name="Text 9"/>
          <p:cNvSpPr/>
          <p:nvPr/>
        </p:nvSpPr>
        <p:spPr>
          <a:xfrm>
            <a:off x="890759" y="3890794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/>
              <a:t>accueil</a:t>
            </a:r>
          </a:p>
        </p:txBody>
      </p:sp>
      <p:sp>
        <p:nvSpPr>
          <p:cNvPr id="13" name="Shape 10"/>
          <p:cNvSpPr/>
          <p:nvPr/>
        </p:nvSpPr>
        <p:spPr>
          <a:xfrm>
            <a:off x="610590" y="436741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A07E64"/>
          </a:solidFill>
          <a:ln/>
        </p:spPr>
      </p:sp>
      <p:sp>
        <p:nvSpPr>
          <p:cNvPr id="14" name="Text 11"/>
          <p:cNvSpPr/>
          <p:nvPr/>
        </p:nvSpPr>
        <p:spPr>
          <a:xfrm>
            <a:off x="915035" y="4271325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Analyse exploratoire (EDA)</a:t>
            </a:r>
            <a:endParaRPr lang="en-US" b="1" dirty="0"/>
          </a:p>
        </p:txBody>
      </p:sp>
      <p:sp>
        <p:nvSpPr>
          <p:cNvPr id="15" name="Text 12"/>
          <p:cNvSpPr/>
          <p:nvPr/>
        </p:nvSpPr>
        <p:spPr>
          <a:xfrm>
            <a:off x="2449120" y="5449570"/>
            <a:ext cx="729375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ea typeface="MiSans" pitchFamily="34" charset="-122"/>
                <a:cs typeface="MiSans" pitchFamily="34" charset="-120"/>
              </a:rPr>
              <a:t>L'utilisateur choisit un film et reçoit les 5 films les plus similaires.</a:t>
            </a:r>
            <a:endParaRPr 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3-d3ce46os8jdo4os5dcsg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-9525" y="-22225"/>
            <a:ext cx="12214860" cy="69100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92065" y="2949575"/>
            <a:ext cx="6986905" cy="1015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212931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Modèles &amp; Évaluation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086610"/>
            <a:ext cx="3128010" cy="862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6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470" y="0"/>
            <a:ext cx="12396470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200" y="1111778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Modèles de Recommandation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03200" y="2427184"/>
            <a:ext cx="5689600" cy="1981200"/>
          </a:xfrm>
          <a:custGeom>
            <a:avLst/>
            <a:gdLst/>
            <a:ahLst/>
            <a:cxnLst/>
            <a:rect l="l" t="t" r="r" b="b"/>
            <a:pathLst>
              <a:path w="5689600" h="1981200">
                <a:moveTo>
                  <a:pt x="152394" y="0"/>
                </a:moveTo>
                <a:lnTo>
                  <a:pt x="5537206" y="0"/>
                </a:lnTo>
                <a:cubicBezTo>
                  <a:pt x="5621371" y="0"/>
                  <a:pt x="5689600" y="68229"/>
                  <a:pt x="5689600" y="152394"/>
                </a:cubicBezTo>
                <a:lnTo>
                  <a:pt x="5689600" y="1828806"/>
                </a:lnTo>
                <a:cubicBezTo>
                  <a:pt x="5689600" y="1912971"/>
                  <a:pt x="5621371" y="1981200"/>
                  <a:pt x="55372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5" name="Text 2"/>
          <p:cNvSpPr/>
          <p:nvPr/>
        </p:nvSpPr>
        <p:spPr>
          <a:xfrm>
            <a:off x="469900" y="2649517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u="sng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1. Similarité Cosine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8800" y="3228109"/>
            <a:ext cx="516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ea typeface="MiSans" pitchFamily="34" charset="-122"/>
                <a:cs typeface="MiSans" pitchFamily="34" charset="-120"/>
              </a:rPr>
              <a:t>Compare les vecteurs de notes entre films pour identifier des profils d'évaluation similaires.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43865" y="3959101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ea typeface="MiSans" pitchFamily="34" charset="-122"/>
                <a:cs typeface="MiSans" pitchFamily="34" charset="-120"/>
              </a:rPr>
              <a:t>cos(θ) = (A · B) / (||A|| ||B||)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248400" y="2413000"/>
            <a:ext cx="5689600" cy="1981200"/>
          </a:xfrm>
          <a:custGeom>
            <a:avLst/>
            <a:gdLst/>
            <a:ahLst/>
            <a:cxnLst/>
            <a:rect l="l" t="t" r="r" b="b"/>
            <a:pathLst>
              <a:path w="5689600" h="1981200">
                <a:moveTo>
                  <a:pt x="152394" y="0"/>
                </a:moveTo>
                <a:lnTo>
                  <a:pt x="5537206" y="0"/>
                </a:lnTo>
                <a:cubicBezTo>
                  <a:pt x="5621371" y="0"/>
                  <a:pt x="5689600" y="68229"/>
                  <a:pt x="5689600" y="152394"/>
                </a:cubicBezTo>
                <a:lnTo>
                  <a:pt x="5689600" y="1828806"/>
                </a:lnTo>
                <a:cubicBezTo>
                  <a:pt x="5689600" y="1912971"/>
                  <a:pt x="5621371" y="1981200"/>
                  <a:pt x="55372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9" name="Text 6"/>
          <p:cNvSpPr/>
          <p:nvPr/>
        </p:nvSpPr>
        <p:spPr>
          <a:xfrm>
            <a:off x="6515100" y="2627086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u="sng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2. Corrélation de Pearson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53200" y="3175000"/>
            <a:ext cx="516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ea typeface="MiSans" pitchFamily="34" charset="-122"/>
                <a:cs typeface="MiSans" pitchFamily="34" charset="-120"/>
              </a:rPr>
              <a:t>Prend en compte la moyenne des notes par utilisateur, plus robuste face aux biais.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15100" y="3886200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ea typeface="MiSans" pitchFamily="34" charset="-122"/>
                <a:cs typeface="MiSans" pitchFamily="34" charset="-120"/>
              </a:rPr>
              <a:t>r = Σ((xi - x̄)(yi - ȳ)) / sqrt(Σ(xi - x̄)² * Σ(yi - ȳ)²)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03200" y="49530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ea typeface="MiSans" pitchFamily="34" charset="-122"/>
                <a:cs typeface="MiSans" pitchFamily="34" charset="-120"/>
              </a:rPr>
              <a:t>Intuition :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5600" y="5410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Cosine mesure l'angle entre vecteurs, tandis que Pearson corrige les effets de notation individuelle</a:t>
            </a:r>
            <a:r>
              <a:rPr lang="en-US" sz="1600" dirty="0">
                <a:solidFill>
                  <a:srgbClr val="333333"/>
                </a:solidFill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51" y="-43815"/>
            <a:ext cx="12396470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3407" y="529461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fr-FR" sz="4000" b="1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Avantages et inconvénients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55234" y="1708030"/>
            <a:ext cx="5689600" cy="4882551"/>
          </a:xfrm>
          <a:custGeom>
            <a:avLst/>
            <a:gdLst/>
            <a:ahLst/>
            <a:cxnLst/>
            <a:rect l="l" t="t" r="r" b="b"/>
            <a:pathLst>
              <a:path w="5689600" h="1981200">
                <a:moveTo>
                  <a:pt x="152394" y="0"/>
                </a:moveTo>
                <a:lnTo>
                  <a:pt x="5537206" y="0"/>
                </a:lnTo>
                <a:cubicBezTo>
                  <a:pt x="5621371" y="0"/>
                  <a:pt x="5689600" y="68229"/>
                  <a:pt x="5689600" y="152394"/>
                </a:cubicBezTo>
                <a:lnTo>
                  <a:pt x="5689600" y="1828806"/>
                </a:lnTo>
                <a:cubicBezTo>
                  <a:pt x="5689600" y="1912971"/>
                  <a:pt x="5621371" y="1981200"/>
                  <a:pt x="55372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5" name="Text 2"/>
          <p:cNvSpPr/>
          <p:nvPr/>
        </p:nvSpPr>
        <p:spPr>
          <a:xfrm>
            <a:off x="496534" y="1898752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400" b="1" u="sng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1. Similarité Cosine</a:t>
            </a:r>
            <a:endParaRPr lang="fr-FR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0834" y="3228109"/>
            <a:ext cx="516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fr-FR" sz="2000" dirty="0"/>
          </a:p>
        </p:txBody>
      </p:sp>
      <p:sp>
        <p:nvSpPr>
          <p:cNvPr id="7" name="Text 4"/>
          <p:cNvSpPr/>
          <p:nvPr/>
        </p:nvSpPr>
        <p:spPr>
          <a:xfrm>
            <a:off x="495899" y="3959101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fr-FR" sz="2400" dirty="0"/>
          </a:p>
        </p:txBody>
      </p:sp>
      <p:sp>
        <p:nvSpPr>
          <p:cNvPr id="8" name="Shape 5"/>
          <p:cNvSpPr/>
          <p:nvPr/>
        </p:nvSpPr>
        <p:spPr>
          <a:xfrm>
            <a:off x="6309794" y="1708030"/>
            <a:ext cx="5689600" cy="4882551"/>
          </a:xfrm>
          <a:custGeom>
            <a:avLst/>
            <a:gdLst/>
            <a:ahLst/>
            <a:cxnLst/>
            <a:rect l="l" t="t" r="r" b="b"/>
            <a:pathLst>
              <a:path w="5689600" h="1981200">
                <a:moveTo>
                  <a:pt x="152394" y="0"/>
                </a:moveTo>
                <a:lnTo>
                  <a:pt x="5537206" y="0"/>
                </a:lnTo>
                <a:cubicBezTo>
                  <a:pt x="5621371" y="0"/>
                  <a:pt x="5689600" y="68229"/>
                  <a:pt x="5689600" y="152394"/>
                </a:cubicBezTo>
                <a:lnTo>
                  <a:pt x="5689600" y="1828806"/>
                </a:lnTo>
                <a:cubicBezTo>
                  <a:pt x="5689600" y="1912971"/>
                  <a:pt x="5621371" y="1981200"/>
                  <a:pt x="5537206" y="1981200"/>
                </a:cubicBezTo>
                <a:lnTo>
                  <a:pt x="152394" y="1981200"/>
                </a:lnTo>
                <a:cubicBezTo>
                  <a:pt x="68229" y="1981200"/>
                  <a:pt x="0" y="1912971"/>
                  <a:pt x="0" y="18288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9" name="Text 6"/>
          <p:cNvSpPr/>
          <p:nvPr/>
        </p:nvSpPr>
        <p:spPr>
          <a:xfrm>
            <a:off x="6551094" y="1898752"/>
            <a:ext cx="520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fr-FR" sz="2400" b="1" u="sng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2. Corrélation de Pearson</a:t>
            </a:r>
            <a:endParaRPr lang="fr-FR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567134" y="3886200"/>
            <a:ext cx="5156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fr-FR" sz="2400" dirty="0"/>
          </a:p>
        </p:txBody>
      </p:sp>
      <p:sp>
        <p:nvSpPr>
          <p:cNvPr id="13" name="Text 10"/>
          <p:cNvSpPr/>
          <p:nvPr/>
        </p:nvSpPr>
        <p:spPr>
          <a:xfrm>
            <a:off x="407634" y="5410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fr-FR" sz="1600" dirty="0">
                <a:solidFill>
                  <a:srgbClr val="333333"/>
                </a:solidFill>
                <a:ea typeface="MiSans" pitchFamily="34" charset="-122"/>
                <a:cs typeface="MiSans" pitchFamily="34" charset="-120"/>
              </a:rPr>
              <a:t>.</a:t>
            </a:r>
            <a:endParaRPr lang="fr-FR" sz="1600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3A11C696-2631-C22B-2D1D-F42D188EC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97" y="2592118"/>
            <a:ext cx="590216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sz="2000" dirty="0"/>
              <a:t>✅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</a:rPr>
              <a:t>Avantages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à calculer et rapide pour de grands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ensembles de données.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Ignore l’amplitude des notes, se concentre sur le profil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global des préférences.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sz="2000" b="1" dirty="0"/>
              <a:t>❌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</a:rPr>
              <a:t>Inconvénients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 tient pas compte des différences d’échelle entre utilisateurs (ex. certains notent toujours plus haut).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Sensible aux vecteurs très peu remplis.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FAB7FB1-6570-3D3C-CEF4-4C04C4031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859" y="2418435"/>
            <a:ext cx="568960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sz="2000" b="1" dirty="0"/>
              <a:t>✅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</a:rPr>
              <a:t>Avantages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Tient compte des écarts par rapport à la moyenne de chaque utilisateur donc plus précis pour comparer les goûts relatifs.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Réduit l’effet des utilisateurs qui donnent systématiquement des notes élevées ou basses.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sz="2000" b="1" dirty="0"/>
              <a:t>❌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</a:rPr>
              <a:t>Inconvénients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 plus complexe que Cosine donc plus lent sur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 très grands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Peut être moins stable si le nombre d’items communs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 faible.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595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3-d3ce46os8jdo4os5dcsg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-9525" y="-22225"/>
            <a:ext cx="12214860" cy="69100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92065" y="2949575"/>
            <a:ext cx="6986905" cy="1015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Résultats &amp; Choix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086610"/>
            <a:ext cx="3128010" cy="862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6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855" y="-39370"/>
            <a:ext cx="12396470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268" y="109474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Choix du Modèle Optimal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2132" y="2032000"/>
            <a:ext cx="4673600" cy="2184400"/>
          </a:xfrm>
          <a:custGeom>
            <a:avLst/>
            <a:gdLst/>
            <a:ahLst/>
            <a:cxnLst/>
            <a:rect l="l" t="t" r="r" b="b"/>
            <a:pathLst>
              <a:path w="4673600" h="2184400">
                <a:moveTo>
                  <a:pt x="101596" y="0"/>
                </a:moveTo>
                <a:lnTo>
                  <a:pt x="4572004" y="0"/>
                </a:lnTo>
                <a:cubicBezTo>
                  <a:pt x="4628114" y="0"/>
                  <a:pt x="4673600" y="45486"/>
                  <a:pt x="4673600" y="101596"/>
                </a:cubicBezTo>
                <a:lnTo>
                  <a:pt x="4673600" y="2082804"/>
                </a:lnTo>
                <a:cubicBezTo>
                  <a:pt x="4673600" y="2138914"/>
                  <a:pt x="4628114" y="2184400"/>
                  <a:pt x="45720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5" name="Text 2"/>
          <p:cNvSpPr/>
          <p:nvPr/>
        </p:nvSpPr>
        <p:spPr>
          <a:xfrm>
            <a:off x="681434" y="2235200"/>
            <a:ext cx="439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Cosine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9684" y="25908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A07E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0.662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0484" y="30480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Score Moyen</a:t>
            </a: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649684" y="33020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A07E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0484" y="37592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Couverture</a:t>
            </a:r>
            <a:endParaRPr lang="en-US" b="1" dirty="0"/>
          </a:p>
        </p:txBody>
      </p:sp>
      <p:sp>
        <p:nvSpPr>
          <p:cNvPr id="10" name="Text 7"/>
          <p:cNvSpPr/>
          <p:nvPr/>
        </p:nvSpPr>
        <p:spPr>
          <a:xfrm>
            <a:off x="5790803" y="2870200"/>
            <a:ext cx="838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A07E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76269" y="2032000"/>
            <a:ext cx="4673600" cy="2184400"/>
          </a:xfrm>
          <a:custGeom>
            <a:avLst/>
            <a:gdLst/>
            <a:ahLst/>
            <a:cxnLst/>
            <a:rect l="l" t="t" r="r" b="b"/>
            <a:pathLst>
              <a:path w="4673600" h="2184400">
                <a:moveTo>
                  <a:pt x="101596" y="0"/>
                </a:moveTo>
                <a:lnTo>
                  <a:pt x="4572004" y="0"/>
                </a:lnTo>
                <a:cubicBezTo>
                  <a:pt x="4628114" y="0"/>
                  <a:pt x="4673600" y="45486"/>
                  <a:pt x="4673600" y="101596"/>
                </a:cubicBezTo>
                <a:lnTo>
                  <a:pt x="4673600" y="2082804"/>
                </a:lnTo>
                <a:cubicBezTo>
                  <a:pt x="4673600" y="2138914"/>
                  <a:pt x="4628114" y="2184400"/>
                  <a:pt x="4572004" y="2184400"/>
                </a:cubicBezTo>
                <a:lnTo>
                  <a:pt x="101596" y="2184400"/>
                </a:lnTo>
                <a:cubicBezTo>
                  <a:pt x="45486" y="2184400"/>
                  <a:pt x="0" y="2138914"/>
                  <a:pt x="0" y="2082804"/>
                </a:cubicBezTo>
                <a:lnTo>
                  <a:pt x="0" y="101596"/>
                </a:lnTo>
                <a:cubicBezTo>
                  <a:pt x="0" y="45524"/>
                  <a:pt x="45524" y="0"/>
                  <a:pt x="101596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12" name="Text 9"/>
          <p:cNvSpPr/>
          <p:nvPr/>
        </p:nvSpPr>
        <p:spPr>
          <a:xfrm>
            <a:off x="7115969" y="2235200"/>
            <a:ext cx="439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Pearson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084219" y="25908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A07E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0.573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5019" y="30480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Score Moyen</a:t>
            </a:r>
            <a:endParaRPr lang="en-US" b="1" dirty="0"/>
          </a:p>
        </p:txBody>
      </p:sp>
      <p:sp>
        <p:nvSpPr>
          <p:cNvPr id="15" name="Text 12"/>
          <p:cNvSpPr/>
          <p:nvPr/>
        </p:nvSpPr>
        <p:spPr>
          <a:xfrm>
            <a:off x="7084219" y="330200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A07E6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35019" y="3759200"/>
            <a:ext cx="435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latin typeface="MiSans" pitchFamily="34" charset="0"/>
                <a:ea typeface="MiSans" pitchFamily="34" charset="-122"/>
                <a:cs typeface="MiSans" pitchFamily="34" charset="-120"/>
              </a:rPr>
              <a:t>Couverture</a:t>
            </a:r>
            <a:endParaRPr lang="en-US" b="1" dirty="0"/>
          </a:p>
        </p:txBody>
      </p:sp>
      <p:sp>
        <p:nvSpPr>
          <p:cNvPr id="17" name="Shape 14"/>
          <p:cNvSpPr/>
          <p:nvPr/>
        </p:nvSpPr>
        <p:spPr>
          <a:xfrm>
            <a:off x="254000" y="4521200"/>
            <a:ext cx="11684000" cy="10668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965198"/>
                </a:lnTo>
                <a:cubicBezTo>
                  <a:pt x="11684000" y="1021311"/>
                  <a:pt x="11638511" y="1066800"/>
                  <a:pt x="11582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18" name="Text 15"/>
          <p:cNvSpPr/>
          <p:nvPr/>
        </p:nvSpPr>
        <p:spPr>
          <a:xfrm>
            <a:off x="393700" y="4617522"/>
            <a:ext cx="1140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u="sng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Choix Final : Similarité Cosine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06400" y="5080000"/>
            <a:ext cx="1137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ea typeface="MiSans" pitchFamily="34" charset="-122"/>
                <a:cs typeface="MiSans" pitchFamily="34" charset="-120"/>
              </a:rPr>
              <a:t> Meilleur score moyen et couverture plus élevée, garantissant une précision et une diversité supérieures.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3-d3ce46os8jdo4os5dcsg.png"/>
          <p:cNvPicPr>
            <a:picLocks noChangeAspect="1"/>
          </p:cNvPicPr>
          <p:nvPr/>
        </p:nvPicPr>
        <p:blipFill>
          <a:blip r:embed="rId3"/>
          <a:srcRect l="5" r="5"/>
          <a:stretch/>
        </p:blipFill>
        <p:spPr>
          <a:xfrm>
            <a:off x="-22860" y="-152854"/>
            <a:ext cx="12214860" cy="691007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172075" y="1997710"/>
            <a:ext cx="988695" cy="7607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92065" y="2949575"/>
            <a:ext cx="6986905" cy="10153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Conclusion &amp; Perspectives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54000" y="2086610"/>
            <a:ext cx="3128010" cy="862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6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06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q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592" y="-65430"/>
            <a:ext cx="12396470" cy="69456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6276" y="764188"/>
            <a:ext cx="7084208" cy="608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333333"/>
                </a:solidFill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Conclusion et Perspectives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32641" y="2118947"/>
            <a:ext cx="5598816" cy="3246682"/>
          </a:xfrm>
          <a:custGeom>
            <a:avLst/>
            <a:gdLst/>
            <a:ahLst/>
            <a:cxnLst/>
            <a:rect l="l" t="t" r="r" b="b"/>
            <a:pathLst>
              <a:path w="5435600" h="1625600">
                <a:moveTo>
                  <a:pt x="101600" y="0"/>
                </a:moveTo>
                <a:lnTo>
                  <a:pt x="5334000" y="0"/>
                </a:lnTo>
                <a:cubicBezTo>
                  <a:pt x="5390075" y="0"/>
                  <a:pt x="5435600" y="45525"/>
                  <a:pt x="5435600" y="101600"/>
                </a:cubicBezTo>
                <a:lnTo>
                  <a:pt x="5435600" y="1524000"/>
                </a:lnTo>
                <a:cubicBezTo>
                  <a:pt x="5435600" y="1580075"/>
                  <a:pt x="5390075" y="1625600"/>
                  <a:pt x="5334000" y="1625600"/>
                </a:cubicBezTo>
                <a:lnTo>
                  <a:pt x="101600" y="1625600"/>
                </a:lnTo>
                <a:cubicBezTo>
                  <a:pt x="45525" y="1625600"/>
                  <a:pt x="0" y="1580075"/>
                  <a:pt x="0" y="15240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5D1B8"/>
          </a:solidFill>
          <a:ln/>
        </p:spPr>
      </p:sp>
      <p:sp>
        <p:nvSpPr>
          <p:cNvPr id="5" name="Text 2"/>
          <p:cNvSpPr/>
          <p:nvPr/>
        </p:nvSpPr>
        <p:spPr>
          <a:xfrm>
            <a:off x="1999615" y="2337532"/>
            <a:ext cx="514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ea typeface="MiSans" pitchFamily="34" charset="-122"/>
                <a:cs typeface="MiSans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 flipV="1">
            <a:off x="248799" y="6192565"/>
            <a:ext cx="511810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b="1" dirty="0"/>
          </a:p>
        </p:txBody>
      </p:sp>
      <p:sp>
        <p:nvSpPr>
          <p:cNvPr id="8" name="Text 5"/>
          <p:cNvSpPr/>
          <p:nvPr/>
        </p:nvSpPr>
        <p:spPr>
          <a:xfrm>
            <a:off x="8453635" y="2420426"/>
            <a:ext cx="514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17957" y="2983230"/>
            <a:ext cx="5118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2000" b="1" dirty="0"/>
          </a:p>
        </p:txBody>
      </p:sp>
      <p:sp>
        <p:nvSpPr>
          <p:cNvPr id="10" name="Shape 7"/>
          <p:cNvSpPr/>
          <p:nvPr/>
        </p:nvSpPr>
        <p:spPr>
          <a:xfrm>
            <a:off x="5929994" y="2118946"/>
            <a:ext cx="5706064" cy="3246683"/>
          </a:xfrm>
          <a:custGeom>
            <a:avLst/>
            <a:gdLst/>
            <a:ahLst/>
            <a:cxnLst/>
            <a:rect l="l" t="t" r="r" b="b"/>
            <a:pathLst>
              <a:path w="5435600" h="1727200">
                <a:moveTo>
                  <a:pt x="101594" y="0"/>
                </a:moveTo>
                <a:lnTo>
                  <a:pt x="5334006" y="0"/>
                </a:lnTo>
                <a:cubicBezTo>
                  <a:pt x="5390115" y="0"/>
                  <a:pt x="5435600" y="45485"/>
                  <a:pt x="5435600" y="101594"/>
                </a:cubicBezTo>
                <a:lnTo>
                  <a:pt x="5435600" y="1625606"/>
                </a:lnTo>
                <a:cubicBezTo>
                  <a:pt x="5435600" y="1681715"/>
                  <a:pt x="5390115" y="1727200"/>
                  <a:pt x="53340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D7B99A"/>
          </a:solidFill>
          <a:ln/>
        </p:spPr>
      </p:sp>
      <p:sp>
        <p:nvSpPr>
          <p:cNvPr id="11" name="Text 8"/>
          <p:cNvSpPr/>
          <p:nvPr/>
        </p:nvSpPr>
        <p:spPr>
          <a:xfrm>
            <a:off x="7803078" y="2294023"/>
            <a:ext cx="514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ea typeface="MiSans" pitchFamily="34" charset="-122"/>
                <a:cs typeface="MiSans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446607" y="5178988"/>
            <a:ext cx="51181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endParaRPr lang="en-US" sz="1600" b="1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530A585-B402-2E13-E7D5-70D62C778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894" y="2863966"/>
            <a:ext cx="570606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Ajouter de nouvelles colonnes (genre, année de sortie, durée…)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pour enrichir les recommandations.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Intégrer plus de données utilisateurs et d’autres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Utiliser des modèles avancés (filtrage collaboratif ou deep learning).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CF335CE-57B4-E168-77EA-6A5CAA5C2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99" y="2949432"/>
            <a:ext cx="570409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</a:rPr>
              <a:t>Système de recommandations basé sur Cosine et Pearson.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</a:rPr>
              <a:t>Permet de proposer des films adaptés aux préférences des utilisateurs.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</a:rPr>
              <a:t>Analyse des tendances principales du dataset MovieLens.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28-15:22:02-d3ce46gs8jdo4os5dcpg.png"/>
          <p:cNvPicPr>
            <a:picLocks noChangeAspect="1"/>
          </p:cNvPicPr>
          <p:nvPr/>
        </p:nvPicPr>
        <p:blipFill>
          <a:blip r:embed="rId3"/>
          <a:srcRect l="3" r="3"/>
          <a:stretch/>
        </p:blipFill>
        <p:spPr>
          <a:xfrm>
            <a:off x="-21296" y="0"/>
            <a:ext cx="12233910" cy="68599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26958" y="4684395"/>
            <a:ext cx="2337402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889500" y="4736465"/>
            <a:ext cx="2413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26958" y="5387340"/>
            <a:ext cx="2337402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89500" y="5439410"/>
            <a:ext cx="241300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53970" y="1887855"/>
            <a:ext cx="7061200" cy="329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Merci pour votre attention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D3BDA6"/>
      </a:accent1>
      <a:accent2>
        <a:srgbClr val="DBB479"/>
      </a:accent2>
      <a:accent3>
        <a:srgbClr val="AB8A7D"/>
      </a:accent3>
      <a:accent4>
        <a:srgbClr val="2C3741"/>
      </a:accent4>
      <a:accent5>
        <a:srgbClr val="2C3741"/>
      </a:accent5>
      <a:accent6>
        <a:srgbClr val="DBB47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742</Words>
  <Application>Microsoft Office PowerPoint</Application>
  <PresentationFormat>Grand écran</PresentationFormat>
  <Paragraphs>149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Calibri</vt:lpstr>
      <vt:lpstr>Noto Sans SC</vt:lpstr>
      <vt:lpstr>Times New Roman</vt:lpstr>
      <vt:lpstr>MiSans</vt:lpstr>
      <vt:lpstr>Arial</vt:lpstr>
      <vt:lpstr>Custom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 Dashboard – Recommandations</dc:title>
  <dc:subject>MovieLens Dashboard – Recommandations</dc:subject>
  <dc:creator>Kimi</dc:creator>
  <cp:lastModifiedBy>fujitsu</cp:lastModifiedBy>
  <cp:revision>4</cp:revision>
  <dcterms:created xsi:type="dcterms:W3CDTF">2025-12-14T13:38:33Z</dcterms:created>
  <dcterms:modified xsi:type="dcterms:W3CDTF">2025-12-15T18:13:42Z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{"Label":"MovieLens Dashboard – Recommandations","ContentProducer":"001191110108MACG2KBH8F10000","ProduceID":"d4vb38hdurqa7ksnn9a0","ReservedCode1":"","ContentPropagator":"001191110108MACG2KBH8F20000","PropagateID":"d4vb38hdurqa7ksnn9a0","ReservedCode2":"</vt:lpwstr>
  </property>
</Properties>
</file>